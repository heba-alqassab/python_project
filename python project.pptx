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Canva Sans" panose="020B0604020202020204" charset="0"/>
      <p:regular r:id="rId14"/>
    </p:embeddedFont>
    <p:embeddedFont>
      <p:font typeface="TT Hoves" panose="020B0604020202020204" charset="0"/>
      <p:regular r:id="rId15"/>
    </p:embeddedFont>
    <p:embeddedFont>
      <p:font typeface="TT Hoves Bold" panose="020B0604020202020204" charset="0"/>
      <p:regular r:id="rId16"/>
    </p:embeddedFont>
    <p:embeddedFont>
      <p:font typeface="TT Hoves Italics" panose="020B0604020202020204" charset="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258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688957" y="657725"/>
            <a:ext cx="13979037" cy="35571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281"/>
              </a:lnSpc>
              <a:spcBef>
                <a:spcPct val="0"/>
              </a:spcBef>
            </a:pPr>
            <a:r>
              <a:rPr lang="en-US" sz="102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Real drinking-water quality in Germany</a:t>
            </a:r>
          </a:p>
        </p:txBody>
      </p:sp>
      <p:sp>
        <p:nvSpPr>
          <p:cNvPr id="4" name="TextBox 4"/>
          <p:cNvSpPr txBox="1"/>
          <p:nvPr/>
        </p:nvSpPr>
        <p:spPr>
          <a:xfrm rot="-10800000">
            <a:off x="2080055" y="4783335"/>
            <a:ext cx="13196839" cy="324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020"/>
              </a:lnSpc>
              <a:spcBef>
                <a:spcPct val="0"/>
              </a:spcBef>
            </a:pPr>
            <a:r>
              <a:rPr lang="en-US" sz="9300" b="1">
                <a:solidFill>
                  <a:srgbClr val="FFFFFF">
                    <a:alpha val="29804"/>
                  </a:srgbClr>
                </a:solidFill>
                <a:latin typeface="TT Hoves Bold"/>
                <a:ea typeface="TT Hoves Bold"/>
                <a:cs typeface="TT Hoves Bold"/>
                <a:sym typeface="TT Hoves Bold"/>
              </a:rPr>
              <a:t>Real drinking-water quality in Germany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763855" y="7991475"/>
            <a:ext cx="9829239" cy="6134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040"/>
              </a:lnSpc>
              <a:spcBef>
                <a:spcPct val="0"/>
              </a:spcBef>
            </a:pPr>
            <a:r>
              <a:rPr lang="en-US" sz="3600" i="1">
                <a:solidFill>
                  <a:srgbClr val="FFFFFF"/>
                </a:solidFill>
                <a:latin typeface="TT Hoves Italics"/>
                <a:ea typeface="TT Hoves Italics"/>
                <a:cs typeface="TT Hoves Italics"/>
                <a:sym typeface="TT Hoves Italics"/>
              </a:rPr>
              <a:t>Your life deserves a pure water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81000" y="7698047"/>
            <a:ext cx="3922365" cy="1780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Heba Alqassab</a:t>
            </a: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Wadeea  </a:t>
            </a:r>
            <a:r>
              <a:rPr lang="en-US" sz="3399" dirty="0" err="1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Almutawa</a:t>
            </a:r>
            <a:endParaRPr lang="en-US" sz="3399" dirty="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just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Sayed Ali Alawi</a:t>
            </a:r>
          </a:p>
        </p:txBody>
      </p:sp>
      <p:sp>
        <p:nvSpPr>
          <p:cNvPr id="7" name="AutoShape 7"/>
          <p:cNvSpPr/>
          <p:nvPr/>
        </p:nvSpPr>
        <p:spPr>
          <a:xfrm>
            <a:off x="5897880" y="4783335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15849600" y="9191625"/>
            <a:ext cx="1871431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dirty="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DAB-16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6136215" y="3049253"/>
            <a:ext cx="5568985" cy="47625"/>
            <a:chOff x="0" y="0"/>
            <a:chExt cx="1466729" cy="125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66728" cy="12543"/>
            </a:xfrm>
            <a:custGeom>
              <a:avLst/>
              <a:gdLst/>
              <a:ahLst/>
              <a:cxnLst/>
              <a:rect l="l" t="t" r="r" b="b"/>
              <a:pathLst>
                <a:path w="1466728" h="12543">
                  <a:moveTo>
                    <a:pt x="6272" y="0"/>
                  </a:moveTo>
                  <a:lnTo>
                    <a:pt x="1460457" y="0"/>
                  </a:lnTo>
                  <a:cubicBezTo>
                    <a:pt x="1462120" y="0"/>
                    <a:pt x="1463715" y="661"/>
                    <a:pt x="1464892" y="1837"/>
                  </a:cubicBezTo>
                  <a:cubicBezTo>
                    <a:pt x="1466068" y="3013"/>
                    <a:pt x="1466728" y="4608"/>
                    <a:pt x="1466728" y="6272"/>
                  </a:cubicBezTo>
                  <a:lnTo>
                    <a:pt x="1466728" y="6272"/>
                  </a:lnTo>
                  <a:cubicBezTo>
                    <a:pt x="1466728" y="7935"/>
                    <a:pt x="1466068" y="9530"/>
                    <a:pt x="1464892" y="10706"/>
                  </a:cubicBezTo>
                  <a:cubicBezTo>
                    <a:pt x="1463715" y="11882"/>
                    <a:pt x="1462120" y="12543"/>
                    <a:pt x="1460457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66729" cy="60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808022" y="6802046"/>
            <a:ext cx="6948447" cy="3746356"/>
          </a:xfrm>
          <a:custGeom>
            <a:avLst/>
            <a:gdLst/>
            <a:ahLst/>
            <a:cxnLst/>
            <a:rect l="l" t="t" r="r" b="b"/>
            <a:pathLst>
              <a:path w="6948447" h="3746356">
                <a:moveTo>
                  <a:pt x="0" y="0"/>
                </a:moveTo>
                <a:lnTo>
                  <a:pt x="6948447" y="0"/>
                </a:lnTo>
                <a:lnTo>
                  <a:pt x="6948447" y="3746355"/>
                </a:lnTo>
                <a:lnTo>
                  <a:pt x="0" y="37463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 flipH="1">
            <a:off x="13147575" y="6802046"/>
            <a:ext cx="6948447" cy="3746356"/>
          </a:xfrm>
          <a:custGeom>
            <a:avLst/>
            <a:gdLst/>
            <a:ahLst/>
            <a:cxnLst/>
            <a:rect l="l" t="t" r="r" b="b"/>
            <a:pathLst>
              <a:path w="6948447" h="3746356">
                <a:moveTo>
                  <a:pt x="6948447" y="0"/>
                </a:moveTo>
                <a:lnTo>
                  <a:pt x="0" y="0"/>
                </a:lnTo>
                <a:lnTo>
                  <a:pt x="0" y="3746355"/>
                </a:lnTo>
                <a:lnTo>
                  <a:pt x="6948447" y="3746355"/>
                </a:lnTo>
                <a:lnTo>
                  <a:pt x="6948447" y="0"/>
                </a:lnTo>
                <a:close/>
              </a:path>
            </a:pathLst>
          </a:custGeom>
          <a:blipFill>
            <a:blip r:embed="rId3">
              <a:alphaModFix amt="71000"/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4728306" y="1763378"/>
            <a:ext cx="8419268" cy="1285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500"/>
              </a:lnSpc>
              <a:spcBef>
                <a:spcPct val="0"/>
              </a:spcBef>
            </a:pPr>
            <a:r>
              <a:rPr lang="en-US" sz="75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Introdu</a:t>
            </a:r>
            <a:r>
              <a:rPr lang="en-US" sz="7500" b="1" u="none" strike="noStrike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69779" y="3830303"/>
            <a:ext cx="16116211" cy="2980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TFW public supplier in Germany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several challenges in water quality changes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Provision of essential tasks for water supply companies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TFW idea to beat the competitors </a:t>
            </a:r>
          </a:p>
          <a:p>
            <a:pPr marL="734059" lvl="1" indent="-367030" algn="just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Challenges encourage robust modeling of Senser Dehavior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99" b="-8000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Freeform 3"/>
          <p:cNvSpPr/>
          <p:nvPr/>
        </p:nvSpPr>
        <p:spPr>
          <a:xfrm>
            <a:off x="-1042240" y="9507719"/>
            <a:ext cx="12098291" cy="901873"/>
          </a:xfrm>
          <a:custGeom>
            <a:avLst/>
            <a:gdLst/>
            <a:ahLst/>
            <a:cxnLst/>
            <a:rect l="l" t="t" r="r" b="b"/>
            <a:pathLst>
              <a:path w="12098291" h="901873">
                <a:moveTo>
                  <a:pt x="0" y="0"/>
                </a:moveTo>
                <a:lnTo>
                  <a:pt x="12098291" y="0"/>
                </a:lnTo>
                <a:lnTo>
                  <a:pt x="12098291" y="901872"/>
                </a:lnTo>
                <a:lnTo>
                  <a:pt x="0" y="90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4" name="Freeform 4"/>
          <p:cNvSpPr/>
          <p:nvPr/>
        </p:nvSpPr>
        <p:spPr>
          <a:xfrm>
            <a:off x="8328129" y="9507719"/>
            <a:ext cx="12098291" cy="901873"/>
          </a:xfrm>
          <a:custGeom>
            <a:avLst/>
            <a:gdLst/>
            <a:ahLst/>
            <a:cxnLst/>
            <a:rect l="l" t="t" r="r" b="b"/>
            <a:pathLst>
              <a:path w="12098291" h="901873">
                <a:moveTo>
                  <a:pt x="0" y="0"/>
                </a:moveTo>
                <a:lnTo>
                  <a:pt x="12098291" y="0"/>
                </a:lnTo>
                <a:lnTo>
                  <a:pt x="12098291" y="901872"/>
                </a:lnTo>
                <a:lnTo>
                  <a:pt x="0" y="90187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1524152" y="1765886"/>
            <a:ext cx="15239697" cy="2533262"/>
            <a:chOff x="0" y="0"/>
            <a:chExt cx="4013747" cy="66719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13747" cy="667197"/>
            </a:xfrm>
            <a:custGeom>
              <a:avLst/>
              <a:gdLst/>
              <a:ahLst/>
              <a:cxnLst/>
              <a:rect l="l" t="t" r="r" b="b"/>
              <a:pathLst>
                <a:path w="4013747" h="667197">
                  <a:moveTo>
                    <a:pt x="0" y="0"/>
                  </a:moveTo>
                  <a:lnTo>
                    <a:pt x="4013747" y="0"/>
                  </a:lnTo>
                  <a:lnTo>
                    <a:pt x="4013747" y="667197"/>
                  </a:lnTo>
                  <a:lnTo>
                    <a:pt x="0" y="667197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013747" cy="7148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524152" y="670484"/>
            <a:ext cx="10687746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</a:pPr>
            <a:r>
              <a:rPr lang="en-US" sz="7000" b="1">
                <a:solidFill>
                  <a:srgbClr val="00578F"/>
                </a:solidFill>
                <a:latin typeface="TT Hoves Bold"/>
                <a:ea typeface="TT Hoves Bold"/>
                <a:cs typeface="TT Hoves Bold"/>
                <a:sym typeface="TT Hoves Bold"/>
              </a:rPr>
              <a:t>PROBLEM STATEMENT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35126" y="1847911"/>
            <a:ext cx="14617748" cy="23069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031927"/>
                </a:solidFill>
                <a:latin typeface="TT Hoves"/>
                <a:ea typeface="TT Hoves"/>
                <a:cs typeface="TT Hoves"/>
                <a:sym typeface="TT Hoves"/>
              </a:rPr>
              <a:t>Between </a:t>
            </a:r>
            <a:r>
              <a:rPr lang="en-US" sz="3299" b="1" u="sng">
                <a:solidFill>
                  <a:srgbClr val="031927"/>
                </a:solidFill>
                <a:latin typeface="TT Hoves Bold"/>
                <a:ea typeface="TT Hoves Bold"/>
                <a:cs typeface="TT Hoves Bold"/>
                <a:sym typeface="TT Hoves Bold"/>
              </a:rPr>
              <a:t>August and November 2016</a:t>
            </a:r>
            <a:r>
              <a:rPr lang="en-US" sz="3299">
                <a:solidFill>
                  <a:srgbClr val="031927"/>
                </a:solidFill>
                <a:latin typeface="TT Hoves"/>
                <a:ea typeface="TT Hoves"/>
                <a:cs typeface="TT Hoves"/>
                <a:sym typeface="TT Hoves"/>
              </a:rPr>
              <a:t>, sensor data from a </a:t>
            </a:r>
            <a:r>
              <a:rPr lang="en-US" sz="3299" b="1" u="sng">
                <a:solidFill>
                  <a:srgbClr val="031927"/>
                </a:solidFill>
                <a:latin typeface="TT Hoves Bold"/>
                <a:ea typeface="TT Hoves Bold"/>
                <a:cs typeface="TT Hoves Bold"/>
                <a:sym typeface="TT Hoves Bold"/>
              </a:rPr>
              <a:t>water distribution system in Germany</a:t>
            </a:r>
            <a:r>
              <a:rPr lang="en-US" sz="3299">
                <a:solidFill>
                  <a:srgbClr val="031927"/>
                </a:solidFill>
                <a:latin typeface="TT Hoves"/>
                <a:ea typeface="TT Hoves"/>
                <a:cs typeface="TT Hoves"/>
                <a:sym typeface="TT Hoves"/>
              </a:rPr>
              <a:t> indicated </a:t>
            </a:r>
            <a:r>
              <a:rPr lang="en-US" sz="3299" b="1" u="sng">
                <a:solidFill>
                  <a:srgbClr val="031927"/>
                </a:solidFill>
                <a:latin typeface="TT Hoves Bold"/>
                <a:ea typeface="TT Hoves Bold"/>
                <a:cs typeface="TT Hoves Bold"/>
                <a:sym typeface="TT Hoves Bold"/>
              </a:rPr>
              <a:t>1726 anomalies</a:t>
            </a:r>
            <a:r>
              <a:rPr lang="en-US" sz="3299">
                <a:solidFill>
                  <a:srgbClr val="031927"/>
                </a:solidFill>
                <a:latin typeface="TT Hoves"/>
                <a:ea typeface="TT Hoves"/>
                <a:cs typeface="TT Hoves"/>
                <a:sym typeface="TT Hoves"/>
              </a:rPr>
              <a:t> events. Which may reflect a contamination risk, a sensor malfunction, or a chemical imbalance.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524152" y="4432498"/>
            <a:ext cx="10687746" cy="1014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</a:pPr>
            <a:r>
              <a:rPr lang="en-US" sz="7000" b="1">
                <a:solidFill>
                  <a:srgbClr val="00578F"/>
                </a:solidFill>
                <a:latin typeface="TT Hoves Bold"/>
                <a:ea typeface="TT Hoves Bold"/>
                <a:cs typeface="TT Hoves Bold"/>
                <a:sym typeface="TT Hoves Bold"/>
              </a:rPr>
              <a:t>APPROACH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524152" y="5465643"/>
            <a:ext cx="13429161" cy="3580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How does the system detect anomalies?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does the flowrate (sensors 1 and 2) vary over time?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Do chlorine dioxide (ClO2) levels show consistent readings?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does redox potential change over time?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Are pH values within the safe range?</a:t>
            </a:r>
          </a:p>
          <a:p>
            <a:pPr marL="734059" lvl="1" indent="-367030" algn="l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How do the parameters affect each other?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99" b="-8000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209103" y="175101"/>
            <a:ext cx="17909213" cy="1007474"/>
            <a:chOff x="0" y="0"/>
            <a:chExt cx="4716830" cy="2653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6830" cy="265343"/>
            </a:xfrm>
            <a:custGeom>
              <a:avLst/>
              <a:gdLst/>
              <a:ahLst/>
              <a:cxnLst/>
              <a:rect l="l" t="t" r="r" b="b"/>
              <a:pathLst>
                <a:path w="4716830" h="265343">
                  <a:moveTo>
                    <a:pt x="0" y="0"/>
                  </a:moveTo>
                  <a:lnTo>
                    <a:pt x="4716830" y="0"/>
                  </a:lnTo>
                  <a:lnTo>
                    <a:pt x="4716830" y="265343"/>
                  </a:lnTo>
                  <a:lnTo>
                    <a:pt x="0" y="2653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6830" cy="312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09103" y="1363051"/>
            <a:ext cx="17540304" cy="8748227"/>
          </a:xfrm>
          <a:custGeom>
            <a:avLst/>
            <a:gdLst/>
            <a:ahLst/>
            <a:cxnLst/>
            <a:rect l="l" t="t" r="r" b="b"/>
            <a:pathLst>
              <a:path w="17540304" h="8748227">
                <a:moveTo>
                  <a:pt x="0" y="0"/>
                </a:moveTo>
                <a:lnTo>
                  <a:pt x="17540304" y="0"/>
                </a:lnTo>
                <a:lnTo>
                  <a:pt x="17540304" y="8748226"/>
                </a:lnTo>
                <a:lnTo>
                  <a:pt x="0" y="87482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578012" y="335068"/>
            <a:ext cx="17341078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31927"/>
                </a:solidFill>
                <a:latin typeface="TT Hoves Bold"/>
                <a:ea typeface="TT Hoves Bold"/>
                <a:cs typeface="TT Hoves Bold"/>
                <a:sym typeface="TT Hoves Bold"/>
              </a:rPr>
              <a:t> How does the system detect anomalies?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99" b="-8000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209103" y="175101"/>
            <a:ext cx="17909213" cy="1007474"/>
            <a:chOff x="0" y="0"/>
            <a:chExt cx="4716830" cy="2653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6830" cy="265343"/>
            </a:xfrm>
            <a:custGeom>
              <a:avLst/>
              <a:gdLst/>
              <a:ahLst/>
              <a:cxnLst/>
              <a:rect l="l" t="t" r="r" b="b"/>
              <a:pathLst>
                <a:path w="4716830" h="265343">
                  <a:moveTo>
                    <a:pt x="0" y="0"/>
                  </a:moveTo>
                  <a:lnTo>
                    <a:pt x="4716830" y="0"/>
                  </a:lnTo>
                  <a:lnTo>
                    <a:pt x="4716830" y="265343"/>
                  </a:lnTo>
                  <a:lnTo>
                    <a:pt x="0" y="2653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6830" cy="312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89393" y="1182576"/>
            <a:ext cx="17909213" cy="8932220"/>
          </a:xfrm>
          <a:custGeom>
            <a:avLst/>
            <a:gdLst/>
            <a:ahLst/>
            <a:cxnLst/>
            <a:rect l="l" t="t" r="r" b="b"/>
            <a:pathLst>
              <a:path w="17909213" h="8932220">
                <a:moveTo>
                  <a:pt x="0" y="0"/>
                </a:moveTo>
                <a:lnTo>
                  <a:pt x="17909214" y="0"/>
                </a:lnTo>
                <a:lnTo>
                  <a:pt x="17909214" y="8932220"/>
                </a:lnTo>
                <a:lnTo>
                  <a:pt x="0" y="89322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578012" y="335068"/>
            <a:ext cx="17341078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31927"/>
                </a:solidFill>
                <a:latin typeface="TT Hoves Bold"/>
                <a:ea typeface="TT Hoves Bold"/>
                <a:cs typeface="TT Hoves Bold"/>
                <a:sym typeface="TT Hoves Bold"/>
              </a:rPr>
              <a:t>How does the flowrate (sensors 1 and 2) vary over time?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99" b="-8000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209103" y="175101"/>
            <a:ext cx="17909213" cy="1007474"/>
            <a:chOff x="0" y="0"/>
            <a:chExt cx="4716830" cy="2653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6830" cy="265343"/>
            </a:xfrm>
            <a:custGeom>
              <a:avLst/>
              <a:gdLst/>
              <a:ahLst/>
              <a:cxnLst/>
              <a:rect l="l" t="t" r="r" b="b"/>
              <a:pathLst>
                <a:path w="4716830" h="265343">
                  <a:moveTo>
                    <a:pt x="0" y="0"/>
                  </a:moveTo>
                  <a:lnTo>
                    <a:pt x="4716830" y="0"/>
                  </a:lnTo>
                  <a:lnTo>
                    <a:pt x="4716830" y="265343"/>
                  </a:lnTo>
                  <a:lnTo>
                    <a:pt x="0" y="2653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6830" cy="312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84455" y="1182576"/>
            <a:ext cx="17919090" cy="8981944"/>
          </a:xfrm>
          <a:custGeom>
            <a:avLst/>
            <a:gdLst/>
            <a:ahLst/>
            <a:cxnLst/>
            <a:rect l="l" t="t" r="r" b="b"/>
            <a:pathLst>
              <a:path w="17919090" h="8981944">
                <a:moveTo>
                  <a:pt x="0" y="0"/>
                </a:moveTo>
                <a:lnTo>
                  <a:pt x="17919090" y="0"/>
                </a:lnTo>
                <a:lnTo>
                  <a:pt x="17919090" y="8981944"/>
                </a:lnTo>
                <a:lnTo>
                  <a:pt x="0" y="89819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578012" y="335068"/>
            <a:ext cx="17341078" cy="12966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31927"/>
                </a:solidFill>
                <a:latin typeface="TT Hoves Bold"/>
                <a:ea typeface="TT Hoves Bold"/>
                <a:cs typeface="TT Hoves Bold"/>
                <a:sym typeface="TT Hoves Bold"/>
              </a:rPr>
              <a:t>Do chlorine dioxide (ClO2) levels show consistent readings?</a:t>
            </a:r>
          </a:p>
          <a:p>
            <a:pPr marL="0" lvl="0" indent="0" algn="ctr">
              <a:lnSpc>
                <a:spcPts val="5179"/>
              </a:lnSpc>
              <a:spcBef>
                <a:spcPct val="0"/>
              </a:spcBef>
            </a:pPr>
            <a:endParaRPr lang="en-US" sz="3699" b="1">
              <a:solidFill>
                <a:srgbClr val="031927"/>
              </a:solidFill>
              <a:latin typeface="TT Hoves Bold"/>
              <a:ea typeface="TT Hoves Bold"/>
              <a:cs typeface="TT Hoves Bold"/>
              <a:sym typeface="TT Hove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99" b="-8000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209103" y="175101"/>
            <a:ext cx="17909213" cy="1007474"/>
            <a:chOff x="0" y="0"/>
            <a:chExt cx="4716830" cy="2653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6830" cy="265343"/>
            </a:xfrm>
            <a:custGeom>
              <a:avLst/>
              <a:gdLst/>
              <a:ahLst/>
              <a:cxnLst/>
              <a:rect l="l" t="t" r="r" b="b"/>
              <a:pathLst>
                <a:path w="4716830" h="265343">
                  <a:moveTo>
                    <a:pt x="0" y="0"/>
                  </a:moveTo>
                  <a:lnTo>
                    <a:pt x="4716830" y="0"/>
                  </a:lnTo>
                  <a:lnTo>
                    <a:pt x="4716830" y="265343"/>
                  </a:lnTo>
                  <a:lnTo>
                    <a:pt x="0" y="2653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6830" cy="312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07350" y="1182576"/>
            <a:ext cx="18073299" cy="9104424"/>
          </a:xfrm>
          <a:custGeom>
            <a:avLst/>
            <a:gdLst/>
            <a:ahLst/>
            <a:cxnLst/>
            <a:rect l="l" t="t" r="r" b="b"/>
            <a:pathLst>
              <a:path w="18073299" h="9104424">
                <a:moveTo>
                  <a:pt x="0" y="0"/>
                </a:moveTo>
                <a:lnTo>
                  <a:pt x="18073300" y="0"/>
                </a:lnTo>
                <a:lnTo>
                  <a:pt x="18073300" y="9104424"/>
                </a:lnTo>
                <a:lnTo>
                  <a:pt x="0" y="91044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578012" y="335068"/>
            <a:ext cx="17341078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31927"/>
                </a:solidFill>
                <a:latin typeface="TT Hoves Bold"/>
                <a:ea typeface="TT Hoves Bold"/>
                <a:cs typeface="TT Hoves Bold"/>
                <a:sym typeface="TT Hoves Bold"/>
              </a:rPr>
              <a:t>How does redox potential change over time?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99" b="-8000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209103" y="175101"/>
            <a:ext cx="17909213" cy="1007474"/>
            <a:chOff x="0" y="0"/>
            <a:chExt cx="4716830" cy="2653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6830" cy="265343"/>
            </a:xfrm>
            <a:custGeom>
              <a:avLst/>
              <a:gdLst/>
              <a:ahLst/>
              <a:cxnLst/>
              <a:rect l="l" t="t" r="r" b="b"/>
              <a:pathLst>
                <a:path w="4716830" h="265343">
                  <a:moveTo>
                    <a:pt x="0" y="0"/>
                  </a:moveTo>
                  <a:lnTo>
                    <a:pt x="4716830" y="0"/>
                  </a:lnTo>
                  <a:lnTo>
                    <a:pt x="4716830" y="265343"/>
                  </a:lnTo>
                  <a:lnTo>
                    <a:pt x="0" y="2653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6830" cy="312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84455" y="1182576"/>
            <a:ext cx="17919090" cy="9071540"/>
          </a:xfrm>
          <a:custGeom>
            <a:avLst/>
            <a:gdLst/>
            <a:ahLst/>
            <a:cxnLst/>
            <a:rect l="l" t="t" r="r" b="b"/>
            <a:pathLst>
              <a:path w="17919090" h="9071540">
                <a:moveTo>
                  <a:pt x="0" y="0"/>
                </a:moveTo>
                <a:lnTo>
                  <a:pt x="17919090" y="0"/>
                </a:lnTo>
                <a:lnTo>
                  <a:pt x="17919090" y="9071539"/>
                </a:lnTo>
                <a:lnTo>
                  <a:pt x="0" y="907153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TextBox 7"/>
          <p:cNvSpPr txBox="1"/>
          <p:nvPr/>
        </p:nvSpPr>
        <p:spPr>
          <a:xfrm>
            <a:off x="578012" y="335068"/>
            <a:ext cx="17341078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31927"/>
                </a:solidFill>
                <a:latin typeface="TT Hoves Bold"/>
                <a:ea typeface="TT Hoves Bold"/>
                <a:cs typeface="TT Hoves Bold"/>
                <a:sym typeface="TT Hoves Bold"/>
              </a:rPr>
              <a:t>Are pH values within the safe range?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7999" b="-8000"/>
            </a:stretch>
          </a:blipFill>
        </p:spPr>
        <p:txBody>
          <a:bodyPr/>
          <a:lstStyle/>
          <a:p>
            <a:endParaRPr lang="en-GB"/>
          </a:p>
        </p:txBody>
      </p:sp>
      <p:grpSp>
        <p:nvGrpSpPr>
          <p:cNvPr id="3" name="Group 3"/>
          <p:cNvGrpSpPr/>
          <p:nvPr/>
        </p:nvGrpSpPr>
        <p:grpSpPr>
          <a:xfrm>
            <a:off x="209103" y="175101"/>
            <a:ext cx="17909213" cy="1007474"/>
            <a:chOff x="0" y="0"/>
            <a:chExt cx="4716830" cy="2653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16830" cy="265343"/>
            </a:xfrm>
            <a:custGeom>
              <a:avLst/>
              <a:gdLst/>
              <a:ahLst/>
              <a:cxnLst/>
              <a:rect l="l" t="t" r="r" b="b"/>
              <a:pathLst>
                <a:path w="4716830" h="265343">
                  <a:moveTo>
                    <a:pt x="0" y="0"/>
                  </a:moveTo>
                  <a:lnTo>
                    <a:pt x="4716830" y="0"/>
                  </a:lnTo>
                  <a:lnTo>
                    <a:pt x="4716830" y="265343"/>
                  </a:lnTo>
                  <a:lnTo>
                    <a:pt x="0" y="2653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16830" cy="312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589088" y="1257300"/>
            <a:ext cx="11346111" cy="9029700"/>
          </a:xfrm>
          <a:custGeom>
            <a:avLst/>
            <a:gdLst/>
            <a:ahLst/>
            <a:cxnLst/>
            <a:rect l="l" t="t" r="r" b="b"/>
            <a:pathLst>
              <a:path w="11318924" h="9107880">
                <a:moveTo>
                  <a:pt x="0" y="0"/>
                </a:moveTo>
                <a:lnTo>
                  <a:pt x="11318924" y="0"/>
                </a:lnTo>
                <a:lnTo>
                  <a:pt x="11318924" y="9107880"/>
                </a:lnTo>
                <a:lnTo>
                  <a:pt x="0" y="91078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7" name="Freeform 7"/>
          <p:cNvSpPr/>
          <p:nvPr/>
        </p:nvSpPr>
        <p:spPr>
          <a:xfrm>
            <a:off x="9431316" y="3326306"/>
            <a:ext cx="1451666" cy="1451666"/>
          </a:xfrm>
          <a:custGeom>
            <a:avLst/>
            <a:gdLst/>
            <a:ahLst/>
            <a:cxnLst/>
            <a:rect l="l" t="t" r="r" b="b"/>
            <a:pathLst>
              <a:path w="1451666" h="1451666">
                <a:moveTo>
                  <a:pt x="0" y="0"/>
                </a:moveTo>
                <a:lnTo>
                  <a:pt x="1451665" y="0"/>
                </a:lnTo>
                <a:lnTo>
                  <a:pt x="1451665" y="1451666"/>
                </a:lnTo>
                <a:lnTo>
                  <a:pt x="0" y="14516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8" name="TextBox 8"/>
          <p:cNvSpPr txBox="1"/>
          <p:nvPr/>
        </p:nvSpPr>
        <p:spPr>
          <a:xfrm>
            <a:off x="578012" y="335068"/>
            <a:ext cx="17341078" cy="63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179"/>
              </a:lnSpc>
              <a:spcBef>
                <a:spcPct val="0"/>
              </a:spcBef>
            </a:pPr>
            <a:r>
              <a:rPr lang="en-US" sz="3699" b="1">
                <a:solidFill>
                  <a:srgbClr val="031927"/>
                </a:solidFill>
                <a:latin typeface="TT Hoves Bold"/>
                <a:ea typeface="TT Hoves Bold"/>
                <a:cs typeface="TT Hoves Bold"/>
                <a:sym typeface="TT Hoves Bold"/>
              </a:rPr>
              <a:t>How do the parameters affect each other?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6807239" y="277789"/>
            <a:ext cx="6444563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5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Conclusion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068434" y="1982764"/>
            <a:ext cx="14151133" cy="2011337"/>
            <a:chOff x="0" y="0"/>
            <a:chExt cx="2420988" cy="3441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0988" cy="344101"/>
            </a:xfrm>
            <a:custGeom>
              <a:avLst/>
              <a:gdLst/>
              <a:ahLst/>
              <a:cxnLst/>
              <a:rect l="l" t="t" r="r" b="b"/>
              <a:pathLst>
                <a:path w="2420988" h="344101">
                  <a:moveTo>
                    <a:pt x="10942" y="0"/>
                  </a:moveTo>
                  <a:lnTo>
                    <a:pt x="2410046" y="0"/>
                  </a:lnTo>
                  <a:cubicBezTo>
                    <a:pt x="2416090" y="0"/>
                    <a:pt x="2420988" y="4899"/>
                    <a:pt x="2420988" y="10942"/>
                  </a:cubicBezTo>
                  <a:lnTo>
                    <a:pt x="2420988" y="333160"/>
                  </a:lnTo>
                  <a:cubicBezTo>
                    <a:pt x="2420988" y="336062"/>
                    <a:pt x="2419835" y="338845"/>
                    <a:pt x="2417783" y="340897"/>
                  </a:cubicBezTo>
                  <a:cubicBezTo>
                    <a:pt x="2415732" y="342949"/>
                    <a:pt x="2412948" y="344101"/>
                    <a:pt x="2410046" y="344101"/>
                  </a:cubicBezTo>
                  <a:lnTo>
                    <a:pt x="10942" y="344101"/>
                  </a:lnTo>
                  <a:cubicBezTo>
                    <a:pt x="8040" y="344101"/>
                    <a:pt x="5257" y="342949"/>
                    <a:pt x="3205" y="340897"/>
                  </a:cubicBezTo>
                  <a:cubicBezTo>
                    <a:pt x="1153" y="338845"/>
                    <a:pt x="0" y="336062"/>
                    <a:pt x="0" y="333160"/>
                  </a:cubicBezTo>
                  <a:lnTo>
                    <a:pt x="0" y="10942"/>
                  </a:lnTo>
                  <a:cubicBezTo>
                    <a:pt x="0" y="8040"/>
                    <a:pt x="1153" y="5257"/>
                    <a:pt x="3205" y="3205"/>
                  </a:cubicBezTo>
                  <a:cubicBezTo>
                    <a:pt x="5257" y="1153"/>
                    <a:pt x="8040" y="0"/>
                    <a:pt x="10942" y="0"/>
                  </a:cubicBezTo>
                  <a:close/>
                </a:path>
              </a:pathLst>
            </a:custGeom>
            <a:solidFill>
              <a:srgbClr val="023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420988" cy="391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859344" y="2409788"/>
            <a:ext cx="11684353" cy="913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Sensor system work effectively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65082" y="2409788"/>
            <a:ext cx="1394262" cy="104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621"/>
              </a:lnSpc>
              <a:spcBef>
                <a:spcPct val="0"/>
              </a:spcBef>
            </a:pPr>
            <a:r>
              <a:rPr lang="en-US" sz="6157" b="1">
                <a:solidFill>
                  <a:srgbClr val="2D8BBA"/>
                </a:solidFill>
                <a:latin typeface="TT Hoves Bold"/>
                <a:ea typeface="TT Hoves Bold"/>
                <a:cs typeface="TT Hoves Bold"/>
                <a:sym typeface="TT Hoves Bold"/>
              </a:rPr>
              <a:t>1.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6634245" y="1363639"/>
            <a:ext cx="5568985" cy="47625"/>
            <a:chOff x="0" y="0"/>
            <a:chExt cx="1466729" cy="125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466728" cy="12543"/>
            </a:xfrm>
            <a:custGeom>
              <a:avLst/>
              <a:gdLst/>
              <a:ahLst/>
              <a:cxnLst/>
              <a:rect l="l" t="t" r="r" b="b"/>
              <a:pathLst>
                <a:path w="1466728" h="12543">
                  <a:moveTo>
                    <a:pt x="6272" y="0"/>
                  </a:moveTo>
                  <a:lnTo>
                    <a:pt x="1460457" y="0"/>
                  </a:lnTo>
                  <a:cubicBezTo>
                    <a:pt x="1462120" y="0"/>
                    <a:pt x="1463715" y="661"/>
                    <a:pt x="1464892" y="1837"/>
                  </a:cubicBezTo>
                  <a:cubicBezTo>
                    <a:pt x="1466068" y="3013"/>
                    <a:pt x="1466728" y="4608"/>
                    <a:pt x="1466728" y="6272"/>
                  </a:cubicBezTo>
                  <a:lnTo>
                    <a:pt x="1466728" y="6272"/>
                  </a:lnTo>
                  <a:cubicBezTo>
                    <a:pt x="1466728" y="7935"/>
                    <a:pt x="1466068" y="9530"/>
                    <a:pt x="1464892" y="10706"/>
                  </a:cubicBezTo>
                  <a:cubicBezTo>
                    <a:pt x="1463715" y="11882"/>
                    <a:pt x="1462120" y="12543"/>
                    <a:pt x="1460457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1466729" cy="60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68434" y="4616500"/>
            <a:ext cx="14151133" cy="2011337"/>
            <a:chOff x="0" y="0"/>
            <a:chExt cx="2420988" cy="3441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20988" cy="344101"/>
            </a:xfrm>
            <a:custGeom>
              <a:avLst/>
              <a:gdLst/>
              <a:ahLst/>
              <a:cxnLst/>
              <a:rect l="l" t="t" r="r" b="b"/>
              <a:pathLst>
                <a:path w="2420988" h="344101">
                  <a:moveTo>
                    <a:pt x="10942" y="0"/>
                  </a:moveTo>
                  <a:lnTo>
                    <a:pt x="2410046" y="0"/>
                  </a:lnTo>
                  <a:cubicBezTo>
                    <a:pt x="2416090" y="0"/>
                    <a:pt x="2420988" y="4899"/>
                    <a:pt x="2420988" y="10942"/>
                  </a:cubicBezTo>
                  <a:lnTo>
                    <a:pt x="2420988" y="333160"/>
                  </a:lnTo>
                  <a:cubicBezTo>
                    <a:pt x="2420988" y="336062"/>
                    <a:pt x="2419835" y="338845"/>
                    <a:pt x="2417783" y="340897"/>
                  </a:cubicBezTo>
                  <a:cubicBezTo>
                    <a:pt x="2415732" y="342949"/>
                    <a:pt x="2412948" y="344101"/>
                    <a:pt x="2410046" y="344101"/>
                  </a:cubicBezTo>
                  <a:lnTo>
                    <a:pt x="10942" y="344101"/>
                  </a:lnTo>
                  <a:cubicBezTo>
                    <a:pt x="8040" y="344101"/>
                    <a:pt x="5257" y="342949"/>
                    <a:pt x="3205" y="340897"/>
                  </a:cubicBezTo>
                  <a:cubicBezTo>
                    <a:pt x="1153" y="338845"/>
                    <a:pt x="0" y="336062"/>
                    <a:pt x="0" y="333160"/>
                  </a:cubicBezTo>
                  <a:lnTo>
                    <a:pt x="0" y="10942"/>
                  </a:lnTo>
                  <a:cubicBezTo>
                    <a:pt x="0" y="8040"/>
                    <a:pt x="1153" y="5257"/>
                    <a:pt x="3205" y="3205"/>
                  </a:cubicBezTo>
                  <a:cubicBezTo>
                    <a:pt x="5257" y="1153"/>
                    <a:pt x="8040" y="0"/>
                    <a:pt x="10942" y="0"/>
                  </a:cubicBezTo>
                  <a:close/>
                </a:path>
              </a:pathLst>
            </a:custGeom>
            <a:solidFill>
              <a:srgbClr val="023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420988" cy="391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859344" y="5043525"/>
            <a:ext cx="11684353" cy="913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pH is in the safe range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65082" y="5043525"/>
            <a:ext cx="1394262" cy="104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621"/>
              </a:lnSpc>
              <a:spcBef>
                <a:spcPct val="0"/>
              </a:spcBef>
            </a:pPr>
            <a:r>
              <a:rPr lang="en-US" sz="6157" b="1">
                <a:solidFill>
                  <a:srgbClr val="2D8BBA"/>
                </a:solidFill>
                <a:latin typeface="TT Hoves Bold"/>
                <a:ea typeface="TT Hoves Bold"/>
                <a:cs typeface="TT Hoves Bold"/>
                <a:sym typeface="TT Hoves Bold"/>
              </a:rPr>
              <a:t>2.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068434" y="7246963"/>
            <a:ext cx="14151133" cy="2011337"/>
            <a:chOff x="0" y="0"/>
            <a:chExt cx="2420988" cy="3441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20988" cy="344101"/>
            </a:xfrm>
            <a:custGeom>
              <a:avLst/>
              <a:gdLst/>
              <a:ahLst/>
              <a:cxnLst/>
              <a:rect l="l" t="t" r="r" b="b"/>
              <a:pathLst>
                <a:path w="2420988" h="344101">
                  <a:moveTo>
                    <a:pt x="10942" y="0"/>
                  </a:moveTo>
                  <a:lnTo>
                    <a:pt x="2410046" y="0"/>
                  </a:lnTo>
                  <a:cubicBezTo>
                    <a:pt x="2416090" y="0"/>
                    <a:pt x="2420988" y="4899"/>
                    <a:pt x="2420988" y="10942"/>
                  </a:cubicBezTo>
                  <a:lnTo>
                    <a:pt x="2420988" y="333160"/>
                  </a:lnTo>
                  <a:cubicBezTo>
                    <a:pt x="2420988" y="336062"/>
                    <a:pt x="2419835" y="338845"/>
                    <a:pt x="2417783" y="340897"/>
                  </a:cubicBezTo>
                  <a:cubicBezTo>
                    <a:pt x="2415732" y="342949"/>
                    <a:pt x="2412948" y="344101"/>
                    <a:pt x="2410046" y="344101"/>
                  </a:cubicBezTo>
                  <a:lnTo>
                    <a:pt x="10942" y="344101"/>
                  </a:lnTo>
                  <a:cubicBezTo>
                    <a:pt x="8040" y="344101"/>
                    <a:pt x="5257" y="342949"/>
                    <a:pt x="3205" y="340897"/>
                  </a:cubicBezTo>
                  <a:cubicBezTo>
                    <a:pt x="1153" y="338845"/>
                    <a:pt x="0" y="336062"/>
                    <a:pt x="0" y="333160"/>
                  </a:cubicBezTo>
                  <a:lnTo>
                    <a:pt x="0" y="10942"/>
                  </a:lnTo>
                  <a:cubicBezTo>
                    <a:pt x="0" y="8040"/>
                    <a:pt x="1153" y="5257"/>
                    <a:pt x="3205" y="3205"/>
                  </a:cubicBezTo>
                  <a:cubicBezTo>
                    <a:pt x="5257" y="1153"/>
                    <a:pt x="8040" y="0"/>
                    <a:pt x="10942" y="0"/>
                  </a:cubicBezTo>
                  <a:close/>
                </a:path>
              </a:pathLst>
            </a:custGeom>
            <a:solidFill>
              <a:srgbClr val="023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420988" cy="391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859344" y="7693038"/>
            <a:ext cx="12167359" cy="85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Water quality meets drinking standers 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65082" y="7673988"/>
            <a:ext cx="1394262" cy="104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621"/>
              </a:lnSpc>
              <a:spcBef>
                <a:spcPct val="0"/>
              </a:spcBef>
            </a:pPr>
            <a:r>
              <a:rPr lang="en-US" sz="6157" b="1">
                <a:solidFill>
                  <a:srgbClr val="2D8BBA"/>
                </a:solidFill>
                <a:latin typeface="TT Hoves Bold"/>
                <a:ea typeface="TT Hoves Bold"/>
                <a:cs typeface="TT Hoves Bold"/>
                <a:sym typeface="TT Hoves Bold"/>
              </a:rPr>
              <a:t>3.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22" b="-9222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5188471" y="277789"/>
            <a:ext cx="8768279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8400"/>
              </a:lnSpc>
            </a:pPr>
            <a:r>
              <a:rPr lang="en-US" sz="7500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Recommendations 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2068434" y="1982764"/>
            <a:ext cx="14151133" cy="2011337"/>
            <a:chOff x="0" y="0"/>
            <a:chExt cx="2420988" cy="344101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20988" cy="344101"/>
            </a:xfrm>
            <a:custGeom>
              <a:avLst/>
              <a:gdLst/>
              <a:ahLst/>
              <a:cxnLst/>
              <a:rect l="l" t="t" r="r" b="b"/>
              <a:pathLst>
                <a:path w="2420988" h="344101">
                  <a:moveTo>
                    <a:pt x="10942" y="0"/>
                  </a:moveTo>
                  <a:lnTo>
                    <a:pt x="2410046" y="0"/>
                  </a:lnTo>
                  <a:cubicBezTo>
                    <a:pt x="2416090" y="0"/>
                    <a:pt x="2420988" y="4899"/>
                    <a:pt x="2420988" y="10942"/>
                  </a:cubicBezTo>
                  <a:lnTo>
                    <a:pt x="2420988" y="333160"/>
                  </a:lnTo>
                  <a:cubicBezTo>
                    <a:pt x="2420988" y="336062"/>
                    <a:pt x="2419835" y="338845"/>
                    <a:pt x="2417783" y="340897"/>
                  </a:cubicBezTo>
                  <a:cubicBezTo>
                    <a:pt x="2415732" y="342949"/>
                    <a:pt x="2412948" y="344101"/>
                    <a:pt x="2410046" y="344101"/>
                  </a:cubicBezTo>
                  <a:lnTo>
                    <a:pt x="10942" y="344101"/>
                  </a:lnTo>
                  <a:cubicBezTo>
                    <a:pt x="8040" y="344101"/>
                    <a:pt x="5257" y="342949"/>
                    <a:pt x="3205" y="340897"/>
                  </a:cubicBezTo>
                  <a:cubicBezTo>
                    <a:pt x="1153" y="338845"/>
                    <a:pt x="0" y="336062"/>
                    <a:pt x="0" y="333160"/>
                  </a:cubicBezTo>
                  <a:lnTo>
                    <a:pt x="0" y="10942"/>
                  </a:lnTo>
                  <a:cubicBezTo>
                    <a:pt x="0" y="8040"/>
                    <a:pt x="1153" y="5257"/>
                    <a:pt x="3205" y="3205"/>
                  </a:cubicBezTo>
                  <a:cubicBezTo>
                    <a:pt x="5257" y="1153"/>
                    <a:pt x="8040" y="0"/>
                    <a:pt x="10942" y="0"/>
                  </a:cubicBezTo>
                  <a:close/>
                </a:path>
              </a:pathLst>
            </a:custGeom>
            <a:solidFill>
              <a:srgbClr val="023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420988" cy="391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3859344" y="2409788"/>
            <a:ext cx="11684353" cy="9131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Standardize sensor 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65082" y="2409788"/>
            <a:ext cx="1394262" cy="104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621"/>
              </a:lnSpc>
              <a:spcBef>
                <a:spcPct val="0"/>
              </a:spcBef>
            </a:pPr>
            <a:r>
              <a:rPr lang="en-US" sz="6157" b="1">
                <a:solidFill>
                  <a:srgbClr val="2D8BBA"/>
                </a:solidFill>
                <a:latin typeface="TT Hoves Bold"/>
                <a:ea typeface="TT Hoves Bold"/>
                <a:cs typeface="TT Hoves Bold"/>
                <a:sym typeface="TT Hoves Bold"/>
              </a:rPr>
              <a:t>1.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5312950" y="1363639"/>
            <a:ext cx="8519320" cy="47625"/>
            <a:chOff x="0" y="0"/>
            <a:chExt cx="2243772" cy="1254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2243772" cy="12543"/>
            </a:xfrm>
            <a:custGeom>
              <a:avLst/>
              <a:gdLst/>
              <a:ahLst/>
              <a:cxnLst/>
              <a:rect l="l" t="t" r="r" b="b"/>
              <a:pathLst>
                <a:path w="2243772" h="12543">
                  <a:moveTo>
                    <a:pt x="6272" y="0"/>
                  </a:moveTo>
                  <a:lnTo>
                    <a:pt x="2237500" y="0"/>
                  </a:lnTo>
                  <a:cubicBezTo>
                    <a:pt x="2239163" y="0"/>
                    <a:pt x="2240759" y="661"/>
                    <a:pt x="2241935" y="1837"/>
                  </a:cubicBezTo>
                  <a:cubicBezTo>
                    <a:pt x="2243111" y="3013"/>
                    <a:pt x="2243772" y="4608"/>
                    <a:pt x="2243772" y="6272"/>
                  </a:cubicBezTo>
                  <a:lnTo>
                    <a:pt x="2243772" y="6272"/>
                  </a:lnTo>
                  <a:cubicBezTo>
                    <a:pt x="2243772" y="7935"/>
                    <a:pt x="2243111" y="9530"/>
                    <a:pt x="2241935" y="10706"/>
                  </a:cubicBezTo>
                  <a:cubicBezTo>
                    <a:pt x="2240759" y="11882"/>
                    <a:pt x="2239163" y="12543"/>
                    <a:pt x="2237500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FFFFFF"/>
            </a:solidFill>
            <a:ln cap="rnd">
              <a:noFill/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47625"/>
              <a:ext cx="2243772" cy="60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068434" y="4616500"/>
            <a:ext cx="14151133" cy="2011337"/>
            <a:chOff x="0" y="0"/>
            <a:chExt cx="2420988" cy="34410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420988" cy="344101"/>
            </a:xfrm>
            <a:custGeom>
              <a:avLst/>
              <a:gdLst/>
              <a:ahLst/>
              <a:cxnLst/>
              <a:rect l="l" t="t" r="r" b="b"/>
              <a:pathLst>
                <a:path w="2420988" h="344101">
                  <a:moveTo>
                    <a:pt x="10942" y="0"/>
                  </a:moveTo>
                  <a:lnTo>
                    <a:pt x="2410046" y="0"/>
                  </a:lnTo>
                  <a:cubicBezTo>
                    <a:pt x="2416090" y="0"/>
                    <a:pt x="2420988" y="4899"/>
                    <a:pt x="2420988" y="10942"/>
                  </a:cubicBezTo>
                  <a:lnTo>
                    <a:pt x="2420988" y="333160"/>
                  </a:lnTo>
                  <a:cubicBezTo>
                    <a:pt x="2420988" y="336062"/>
                    <a:pt x="2419835" y="338845"/>
                    <a:pt x="2417783" y="340897"/>
                  </a:cubicBezTo>
                  <a:cubicBezTo>
                    <a:pt x="2415732" y="342949"/>
                    <a:pt x="2412948" y="344101"/>
                    <a:pt x="2410046" y="344101"/>
                  </a:cubicBezTo>
                  <a:lnTo>
                    <a:pt x="10942" y="344101"/>
                  </a:lnTo>
                  <a:cubicBezTo>
                    <a:pt x="8040" y="344101"/>
                    <a:pt x="5257" y="342949"/>
                    <a:pt x="3205" y="340897"/>
                  </a:cubicBezTo>
                  <a:cubicBezTo>
                    <a:pt x="1153" y="338845"/>
                    <a:pt x="0" y="336062"/>
                    <a:pt x="0" y="333160"/>
                  </a:cubicBezTo>
                  <a:lnTo>
                    <a:pt x="0" y="10942"/>
                  </a:lnTo>
                  <a:cubicBezTo>
                    <a:pt x="0" y="8040"/>
                    <a:pt x="1153" y="5257"/>
                    <a:pt x="3205" y="3205"/>
                  </a:cubicBezTo>
                  <a:cubicBezTo>
                    <a:pt x="5257" y="1153"/>
                    <a:pt x="8040" y="0"/>
                    <a:pt x="10942" y="0"/>
                  </a:cubicBezTo>
                  <a:close/>
                </a:path>
              </a:pathLst>
            </a:custGeom>
            <a:solidFill>
              <a:srgbClr val="023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2420988" cy="391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859344" y="4641728"/>
            <a:ext cx="12167359" cy="18465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7419"/>
              </a:lnSpc>
              <a:spcBef>
                <a:spcPct val="0"/>
              </a:spcBef>
            </a:pPr>
            <a:r>
              <a:rPr lang="en-US" sz="5299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Add more measurements (minerals content)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2465082" y="5043525"/>
            <a:ext cx="1394262" cy="104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621"/>
              </a:lnSpc>
              <a:spcBef>
                <a:spcPct val="0"/>
              </a:spcBef>
            </a:pPr>
            <a:r>
              <a:rPr lang="en-US" sz="6157" b="1">
                <a:solidFill>
                  <a:srgbClr val="2D8BBA"/>
                </a:solidFill>
                <a:latin typeface="TT Hoves Bold"/>
                <a:ea typeface="TT Hoves Bold"/>
                <a:cs typeface="TT Hoves Bold"/>
                <a:sym typeface="TT Hoves Bold"/>
              </a:rPr>
              <a:t>2.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2068434" y="7246963"/>
            <a:ext cx="14151133" cy="2011337"/>
            <a:chOff x="0" y="0"/>
            <a:chExt cx="2420988" cy="344101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420988" cy="344101"/>
            </a:xfrm>
            <a:custGeom>
              <a:avLst/>
              <a:gdLst/>
              <a:ahLst/>
              <a:cxnLst/>
              <a:rect l="l" t="t" r="r" b="b"/>
              <a:pathLst>
                <a:path w="2420988" h="344101">
                  <a:moveTo>
                    <a:pt x="10942" y="0"/>
                  </a:moveTo>
                  <a:lnTo>
                    <a:pt x="2410046" y="0"/>
                  </a:lnTo>
                  <a:cubicBezTo>
                    <a:pt x="2416090" y="0"/>
                    <a:pt x="2420988" y="4899"/>
                    <a:pt x="2420988" y="10942"/>
                  </a:cubicBezTo>
                  <a:lnTo>
                    <a:pt x="2420988" y="333160"/>
                  </a:lnTo>
                  <a:cubicBezTo>
                    <a:pt x="2420988" y="336062"/>
                    <a:pt x="2419835" y="338845"/>
                    <a:pt x="2417783" y="340897"/>
                  </a:cubicBezTo>
                  <a:cubicBezTo>
                    <a:pt x="2415732" y="342949"/>
                    <a:pt x="2412948" y="344101"/>
                    <a:pt x="2410046" y="344101"/>
                  </a:cubicBezTo>
                  <a:lnTo>
                    <a:pt x="10942" y="344101"/>
                  </a:lnTo>
                  <a:cubicBezTo>
                    <a:pt x="8040" y="344101"/>
                    <a:pt x="5257" y="342949"/>
                    <a:pt x="3205" y="340897"/>
                  </a:cubicBezTo>
                  <a:cubicBezTo>
                    <a:pt x="1153" y="338845"/>
                    <a:pt x="0" y="336062"/>
                    <a:pt x="0" y="333160"/>
                  </a:cubicBezTo>
                  <a:lnTo>
                    <a:pt x="0" y="10942"/>
                  </a:lnTo>
                  <a:cubicBezTo>
                    <a:pt x="0" y="8040"/>
                    <a:pt x="1153" y="5257"/>
                    <a:pt x="3205" y="3205"/>
                  </a:cubicBezTo>
                  <a:cubicBezTo>
                    <a:pt x="5257" y="1153"/>
                    <a:pt x="8040" y="0"/>
                    <a:pt x="10942" y="0"/>
                  </a:cubicBezTo>
                  <a:close/>
                </a:path>
              </a:pathLst>
            </a:custGeom>
            <a:solidFill>
              <a:srgbClr val="023E64"/>
            </a:solidFill>
            <a:ln cap="sq">
              <a:noFill/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0" y="-47625"/>
              <a:ext cx="2420988" cy="39172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99"/>
                </a:lnSpc>
              </a:pPr>
              <a:endParaRPr/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3859344" y="7777968"/>
            <a:ext cx="12167359" cy="85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6999"/>
              </a:lnSpc>
              <a:spcBef>
                <a:spcPct val="0"/>
              </a:spcBef>
            </a:pPr>
            <a:r>
              <a:rPr lang="en-US" sz="4999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Include water source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65082" y="7673988"/>
            <a:ext cx="1394262" cy="1042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just">
              <a:lnSpc>
                <a:spcPts val="8621"/>
              </a:lnSpc>
              <a:spcBef>
                <a:spcPct val="0"/>
              </a:spcBef>
            </a:pPr>
            <a:r>
              <a:rPr lang="en-US" sz="6157" b="1">
                <a:solidFill>
                  <a:srgbClr val="2D8BBA"/>
                </a:solidFill>
                <a:latin typeface="TT Hoves Bold"/>
                <a:ea typeface="TT Hoves Bold"/>
                <a:cs typeface="TT Hoves Bold"/>
                <a:sym typeface="TT Hoves Bold"/>
              </a:rPr>
              <a:t>3.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3416" b="-83416"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3" name="TextBox 3"/>
          <p:cNvSpPr txBox="1"/>
          <p:nvPr/>
        </p:nvSpPr>
        <p:spPr>
          <a:xfrm>
            <a:off x="1400616" y="2512426"/>
            <a:ext cx="15486768" cy="322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28"/>
              </a:lnSpc>
              <a:spcBef>
                <a:spcPct val="0"/>
              </a:spcBef>
            </a:pPr>
            <a:r>
              <a:rPr lang="en-US" sz="18806" b="1">
                <a:solidFill>
                  <a:srgbClr val="FFFFFF"/>
                </a:solidFill>
                <a:latin typeface="TT Hoves Bold"/>
                <a:ea typeface="TT Hoves Bold"/>
                <a:cs typeface="TT Hoves Bold"/>
                <a:sym typeface="TT Hoves Bold"/>
              </a:rPr>
              <a:t>Thank You!</a:t>
            </a:r>
          </a:p>
        </p:txBody>
      </p:sp>
      <p:sp>
        <p:nvSpPr>
          <p:cNvPr id="4" name="TextBox 4"/>
          <p:cNvSpPr txBox="1"/>
          <p:nvPr/>
        </p:nvSpPr>
        <p:spPr>
          <a:xfrm rot="-10800000">
            <a:off x="1773902" y="4635816"/>
            <a:ext cx="14754774" cy="32275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328"/>
              </a:lnSpc>
              <a:spcBef>
                <a:spcPct val="0"/>
              </a:spcBef>
            </a:pPr>
            <a:r>
              <a:rPr lang="en-US" sz="18806" b="1">
                <a:solidFill>
                  <a:srgbClr val="FFFFFF">
                    <a:alpha val="29804"/>
                  </a:srgbClr>
                </a:solidFill>
                <a:latin typeface="TT Hoves Bold"/>
                <a:ea typeface="TT Hoves Bold"/>
                <a:cs typeface="TT Hoves Bold"/>
                <a:sym typeface="TT Hoves Bold"/>
              </a:rPr>
              <a:t>!uoY knahT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258</Words>
  <Application>Microsoft Office PowerPoint</Application>
  <PresentationFormat>Custom</PresentationFormat>
  <Paragraphs>44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TT Hoves Bold</vt:lpstr>
      <vt:lpstr>TT Hoves</vt:lpstr>
      <vt:lpstr>TT Hoves Italics</vt:lpstr>
      <vt:lpstr>Arial</vt:lpstr>
      <vt:lpstr>Canva Sans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</dc:title>
  <cp:lastModifiedBy>Heba Alqassab</cp:lastModifiedBy>
  <cp:revision>2</cp:revision>
  <dcterms:created xsi:type="dcterms:W3CDTF">2006-08-16T00:00:00Z</dcterms:created>
  <dcterms:modified xsi:type="dcterms:W3CDTF">2025-10-20T17:58:27Z</dcterms:modified>
  <dc:identifier>DAG18Ophet8</dc:identifier>
</cp:coreProperties>
</file>